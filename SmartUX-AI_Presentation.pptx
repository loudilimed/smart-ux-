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65760"/>
            <a:ext cx="1371600" cy="164592"/>
          </a:xfrm>
          <a:prstGeom prst="rect">
            <a:avLst/>
          </a:prstGeom>
          <a:solidFill>
            <a:srgbClr val="1B6CA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93024" y="-118872"/>
            <a:ext cx="164592" cy="1280160"/>
          </a:xfrm>
          <a:prstGeom prst="rect">
            <a:avLst/>
          </a:prstGeom>
          <a:solidFill>
            <a:srgbClr val="1B6CA8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4480560"/>
            <a:ext cx="2286000" cy="109728"/>
          </a:xfrm>
          <a:prstGeom prst="rect">
            <a:avLst/>
          </a:prstGeom>
          <a:solidFill>
            <a:srgbClr val="1B6CA8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2185B"/>
                </a:solidFill>
              </a:rPr>
              <a:t>PROTOTYPE DE RECHERCHE ·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SmartUX-AI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Interface augmentée par l'IA pour SILLAGE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200400" cy="36576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15468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1B6CA8">
              <a:alpha val="4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CRIStAL × Centrale Lille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315468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1B6CA8">
              <a:alpha val="4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Recherche UX · HCI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315468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1B6CA8">
              <a:alpha val="4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Node.js · React · Groq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Mohamed Loudili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4480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Superviseurs : Équipe CRIStAL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481328"/>
            <a:ext cx="822960" cy="8229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</a:rPr>
              <a:t>Formulaires lents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94436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Les médecins passent un temps excessif à remplir des formulaires complexes dans SILLAGE, ralentissant le soin.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34440"/>
            <a:ext cx="27432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0520" y="1481328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</a:rPr>
              <a:t>Accès peu sécurisé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94436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L'authentification simple par mot de passe ne répond pas aux exigences de sécurité des SIH modernes.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34440"/>
            <a:ext cx="2743200" cy="914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0" y="1481328"/>
            <a:ext cx="822960" cy="8229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423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</a:rPr>
              <a:t>Suivi des prescriptions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94436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 suivi des actes, des délais et des urgences manque de visibilité en temps réel pour les équipes soignantes.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D6E8F5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F4E"/>
                </a:solidFill>
              </a:rPr>
              <a:t>SILLAGE est le Système d'Information Hospitalier déployé dans les établissements de santé français, gérant patients, personnel, prescriptions et imagerie.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 : 3 Piliers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383280" y="1645920"/>
            <a:ext cx="2377440" cy="1463040"/>
          </a:xfrm>
          <a:prstGeom prst="ellipse">
            <a:avLst/>
          </a:prstGeom>
          <a:solidFill>
            <a:srgbClr val="0A2F4E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0" y="16459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SmartUX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83280" y="2377440"/>
            <a:ext cx="-822960" cy="-365760"/>
          </a:xfrm>
          <a:prstGeom prst="line">
            <a:avLst/>
          </a:prstGeom>
          <a:noFill/>
          <a:ln w="19050">
            <a:solidFill>
              <a:srgbClr val="8B9BB4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383280" y="2834640"/>
            <a:ext cx="-822960" cy="640080"/>
          </a:xfrm>
          <a:prstGeom prst="line">
            <a:avLst/>
          </a:prstGeom>
          <a:noFill/>
          <a:ln w="19050">
            <a:solidFill>
              <a:srgbClr val="8B9BB4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760720" y="2377440"/>
            <a:ext cx="640080" cy="-365760"/>
          </a:xfrm>
          <a:prstGeom prst="line">
            <a:avLst/>
          </a:prstGeom>
          <a:noFill/>
          <a:ln w="19050">
            <a:solidFill>
              <a:srgbClr val="8B9BB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82880" y="1325880"/>
            <a:ext cx="3017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325880"/>
            <a:ext cx="91440" cy="164592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75"/>
                </a:solidFill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1645920"/>
            <a:ext cx="548640" cy="384048"/>
          </a:xfrm>
          <a:prstGeom prst="rect">
            <a:avLst/>
          </a:prstGeom>
          <a:solidFill>
            <a:srgbClr val="0F4C7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NLP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1645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</a:rPr>
              <a:t>Write Out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" y="2075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F4C75"/>
                </a:solidFill>
              </a:rPr>
              <a:t>SAISIE NLP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23317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Transformer du texte libre médical en prescription structurée grâce à LLaMA 3.3-70B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3246120"/>
            <a:ext cx="3017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3246120"/>
            <a:ext cx="91440" cy="164592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337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185B"/>
                </a:solidFill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3566160"/>
            <a:ext cx="548640" cy="384048"/>
          </a:xfrm>
          <a:prstGeom prst="rect">
            <a:avLst/>
          </a:prstGeom>
          <a:solidFill>
            <a:srgbClr val="C218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</a:rPr>
              <a:t>Authentification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" y="3995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2185B"/>
                </a:solidFill>
              </a:rPr>
              <a:t>MULTI-MÉTHODE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" y="42519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Biométrie simulée, badge RFID et mot de passe haché — session sécurisée 15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1325880"/>
            <a:ext cx="3017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1325880"/>
            <a:ext cx="91440" cy="1645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92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1645920"/>
            <a:ext cx="548640" cy="384048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1645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</a:rPr>
              <a:t>Doctor AI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65392" y="2075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9669"/>
                </a:solidFill>
              </a:rPr>
              <a:t>CHATBOT MÉDICAL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65392" y="23317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Accès au dossier complet de tous les patients, réponses adaptées au rôle clinique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736592"/>
            <a:ext cx="9144000" cy="393192"/>
          </a:xfrm>
          <a:prstGeom prst="rect">
            <a:avLst/>
          </a:prstGeom>
          <a:solidFill>
            <a:srgbClr val="0A2F4E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736592"/>
            <a:ext cx="8595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5"/>
                </a:solidFill>
              </a:rPr>
              <a:t>+ Actes &amp; Ordres (Kanban temps réel)  ·  + Dossier Patient  ·  + Imagerie  ·  + Observations Cliniques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25880"/>
            <a:ext cx="1920240" cy="10972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904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</a:rPr>
              <a:t>Navigateur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</a:rPr>
              <a:t>(React port 3000)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2404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4C75"/>
                </a:solidFill>
              </a:rPr>
              <a:t>INTERFACE UTILISATEUR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132588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325880"/>
            <a:ext cx="1920240" cy="10972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4904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</a:rPr>
              <a:t>Proxy Express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</a:rPr>
              <a:t>(Node.js port 3001)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0320" y="2404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6CA8"/>
                </a:solidFill>
              </a:rPr>
              <a:t>BACKEND SERVEUR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09160" y="132588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325880"/>
            <a:ext cx="1920240" cy="109728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49047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</a:rPr>
              <a:t>API Groq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</a:rPr>
              <a:t>(LLaMA 3.3-70B)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404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2185B"/>
                </a:solidFill>
              </a:rPr>
              <a:t>INTELLIGENCE ARTIFICIELLE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68880" y="297180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2971800"/>
            <a:ext cx="192024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313639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</a:rPr>
              <a:t>SQLite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</a:rPr>
              <a:t>(sillage.db)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60320" y="4050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59669"/>
                </a:solidFill>
              </a:rPr>
              <a:t>PRESCRIPTIONS + AUTH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48840" y="2029968"/>
            <a:ext cx="320040" cy="0"/>
          </a:xfrm>
          <a:prstGeom prst="line">
            <a:avLst/>
          </a:prstGeom>
          <a:noFill/>
          <a:ln w="25400">
            <a:solidFill>
              <a:srgbClr val="0A2F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178308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POST /api/*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20240" y="20848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◀ SSE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89120" y="2029968"/>
            <a:ext cx="320040" cy="0"/>
          </a:xfrm>
          <a:prstGeom prst="line">
            <a:avLst/>
          </a:prstGeom>
          <a:noFill/>
          <a:ln w="25400">
            <a:solidFill>
              <a:srgbClr val="C218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15968" y="181051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HTTPS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29000" y="2743200"/>
            <a:ext cx="0" cy="22860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SQL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03720" y="1737360"/>
            <a:ext cx="2011680" cy="1371600"/>
          </a:xfrm>
          <a:prstGeom prst="rect">
            <a:avLst/>
          </a:prstGeom>
          <a:solidFill>
            <a:srgbClr val="D6E8F5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737360"/>
            <a:ext cx="2011680" cy="82296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1828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F4E"/>
                </a:solidFill>
              </a:rPr>
              <a:t>Adaptateur SIH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A2F4E"/>
                </a:solidFill>
              </a:rPr>
              <a:t>(FHIR / Local)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9516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4C75"/>
                </a:solidFill>
              </a:rPr>
              <a:t>HL7 FHIR R4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4C75"/>
                </a:solidFill>
              </a:rPr>
              <a:t>(Ségur du Numérique)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377440"/>
            <a:ext cx="2194560" cy="0"/>
          </a:xfrm>
          <a:prstGeom prst="line">
            <a:avLst/>
          </a:prstGeom>
          <a:noFill/>
          <a:ln w="19050">
            <a:solidFill>
              <a:srgbClr val="0F4C75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257800" y="2176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extensible →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● Ports locaux  ● Auth sécurisée (scrypt + sessionStorage)  ● RGPD : patients anonymisés H-{id} vers l'IA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 — Saisie NLP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417320"/>
            <a:ext cx="640080" cy="64008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212848"/>
            <a:ext cx="914400" cy="34747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12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Saisie libre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Texte ou dictée vocale en français médical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2606040"/>
            <a:ext cx="201168" cy="0"/>
          </a:xfrm>
          <a:prstGeom prst="line">
            <a:avLst/>
          </a:prstGeom>
          <a:noFill/>
          <a:ln w="25400">
            <a:solidFill>
              <a:srgbClr val="0A2F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4871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F4E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7168" y="123444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417320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6" name="Text 14"/>
          <p:cNvSpPr/>
          <p:nvPr/>
        </p:nvSpPr>
        <p:spPr>
          <a:xfrm>
            <a:off x="3172968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35808" y="2212848"/>
            <a:ext cx="914400" cy="34747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8" name="Text 16"/>
          <p:cNvSpPr/>
          <p:nvPr/>
        </p:nvSpPr>
        <p:spPr>
          <a:xfrm>
            <a:off x="3035808" y="2212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78608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IA LLaMA 3.3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78608" y="31546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Extraction JSON structurée (patient, médicament, dose, voie…)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98848" y="2606040"/>
            <a:ext cx="201168" cy="0"/>
          </a:xfrm>
          <a:prstGeom prst="line">
            <a:avLst/>
          </a:prstGeom>
          <a:noFill/>
          <a:ln w="25400">
            <a:solidFill>
              <a:srgbClr val="0A2F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24871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F4E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0016" y="123444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85816" y="141732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538581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48656" y="2212848"/>
            <a:ext cx="91440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5248656" y="2212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91456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Dialogue guidé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91456" y="31546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Bot pose 3 questions : délai · fréquence · durée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11696" y="2606040"/>
            <a:ext cx="201168" cy="0"/>
          </a:xfrm>
          <a:prstGeom prst="line">
            <a:avLst/>
          </a:prstGeom>
          <a:noFill/>
          <a:ln w="25400">
            <a:solidFill>
              <a:srgbClr val="0A2F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8856" y="24871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F4E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12864" y="123444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98664" y="141732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7598664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61504" y="2212848"/>
            <a:ext cx="91440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7461504" y="22128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DB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04304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Enregistrement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04304" y="31546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Sauvegarde SQLite + export PDF signé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206240"/>
            <a:ext cx="8595360" cy="713232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4206240"/>
            <a:ext cx="73152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4270248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22960" y="4251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</a:rPr>
              <a:t>Système d'alertes automatiques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Dès qu'un médicament est saisi, l'IA vérifie en temps réel les interactions, allergies et contre-indications.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Niveaux : CRITIQUE (accusé requis) · MODÉRÉ · FAIBLE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651760" cy="9144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463040"/>
            <a:ext cx="822960" cy="82296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</a:rPr>
              <a:t>Biométrie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Reconnaissance faciale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(simulation caméra)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517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34440"/>
            <a:ext cx="2651760" cy="914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0520" y="1463040"/>
            <a:ext cx="822960" cy="8229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NFC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176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</a:rPr>
              <a:t>Badge RFID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6517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Scan badge — accès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en 1 clic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234440"/>
            <a:ext cx="265176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234440"/>
            <a:ext cx="2651760" cy="91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1463040"/>
            <a:ext cx="822960" cy="8229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PWD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176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</a:rPr>
              <a:t>Mot de passe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6517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Login + password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haché scrypt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703320"/>
            <a:ext cx="8595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703320"/>
            <a:ext cx="64008" cy="38404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" y="3721608"/>
            <a:ext cx="475488" cy="34747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72160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370332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Mots de passe stockés uniquement côté serveur — hachés avec crypto.scryptSync (sel 16 bytes, clé 64 bytes)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142232"/>
            <a:ext cx="8595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142232"/>
            <a:ext cx="64008" cy="38404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0" name="Shape 28"/>
          <p:cNvSpPr/>
          <p:nvPr/>
        </p:nvSpPr>
        <p:spPr>
          <a:xfrm>
            <a:off x="411480" y="4160520"/>
            <a:ext cx="475488" cy="34747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416052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60120" y="414223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Session persistée en sessionStorage — déconnexion automatique après 15 min d'inactivité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581144"/>
            <a:ext cx="8595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581144"/>
            <a:ext cx="64008" cy="384048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5" name="Shape 33"/>
          <p:cNvSpPr/>
          <p:nvPr/>
        </p:nvSpPr>
        <p:spPr>
          <a:xfrm>
            <a:off x="411480" y="4599432"/>
            <a:ext cx="475488" cy="34747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459943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LVL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60120" y="4581144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5 niveaux d'accès (1 à 5) — réponses du Doctor AI adaptées au rôle clinique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AI &amp; Actes / Ordres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ADDE4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0" cy="7315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344168"/>
            <a:ext cx="475488" cy="34747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441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F4E"/>
                </a:solidFill>
              </a:rPr>
              <a:t>Doctor 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181051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Chatbot médical avec streaming SSE en temps réel.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Le contexte complet de TOUS les patients est injecté automatiquement.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La dictée vocale est disponible (Web Speech API, fr-FR).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F4E"/>
                </a:solidFill>
              </a:rPr>
              <a:t>Niveau d'accès → Contenu des réponses 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063240"/>
            <a:ext cx="374904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6324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185B"/>
                </a:solidFill>
              </a:rPr>
              <a:t>Niv. 5–4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30632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</a:rPr>
              <a:t>Médecin / Chirurgien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30632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Diagnostics, interactions, pronostic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465576"/>
            <a:ext cx="3749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6557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185B"/>
                </a:solidFill>
              </a:rPr>
              <a:t>Niv.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" y="34655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</a:rPr>
              <a:t>IDE / Pharmacien / Cadre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346557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Médicaments, posologies, protocoles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867912"/>
            <a:ext cx="3749040" cy="40233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6791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185B"/>
                </a:solidFill>
              </a:rPr>
              <a:t>Niv.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" y="38679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</a:rPr>
              <a:t>Aide-Soignant / Interne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51760" y="386791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État général, instructions immédiates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270248"/>
            <a:ext cx="3749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7024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185B"/>
                </a:solidFill>
              </a:rPr>
              <a:t>Niv.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" y="42702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</a:rPr>
              <a:t>Agent d'Accueil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51760" y="427024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Chambre, service, RDV uniquement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1188720"/>
            <a:ext cx="41605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188720"/>
            <a:ext cx="4160520" cy="7315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0600" y="1344168"/>
            <a:ext cx="475488" cy="34747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13441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F4E"/>
                </a:solidFill>
              </a:rPr>
              <a:t>Actes &amp; Ordres — Kanban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8006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Vue Kanban temps réel de toutes les prescriptions.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2194560"/>
            <a:ext cx="1828800" cy="10972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194560"/>
            <a:ext cx="1828800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4873752" y="239572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</a:rPr>
              <a:t>&lt; 30 min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73752" y="27889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Expiration imminente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2194560"/>
            <a:ext cx="1828800" cy="10972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66560" y="2194560"/>
            <a:ext cx="1828800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6839712" y="239572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</a:rPr>
              <a:t>URGENT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39712" y="27889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Priorité STAT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3493008"/>
            <a:ext cx="1828800" cy="10972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0600" y="3493008"/>
            <a:ext cx="1828800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4873752" y="369417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</a:rPr>
              <a:t>À FAIRE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73752" y="408736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En attente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66560" y="3493008"/>
            <a:ext cx="1828800" cy="10972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766560" y="3493008"/>
            <a:ext cx="1828800" cy="16459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8" name="Text 46"/>
          <p:cNvSpPr/>
          <p:nvPr/>
        </p:nvSpPr>
        <p:spPr>
          <a:xfrm>
            <a:off x="6839712" y="369417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3D"/>
                </a:solidFill>
              </a:rPr>
              <a:t>HISTORIQUE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39712" y="4087368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Validé / annulé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RGPD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82296" cy="117043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298448"/>
            <a:ext cx="548640" cy="27432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2984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RGPD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Anonymisation RGPD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Les noms de patients ne transitent jamais vers l'IA. Seul l'identifiant H-{id} est transmis dans les prompts Groq.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82296" cy="1170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4873752" y="1298448"/>
            <a:ext cx="54864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2984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INFO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Disclaimer obligatoire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642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Chaque réponse du chatbot commence par « Analyse assistée par IA — vérification clinique recommandée ».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1460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14600"/>
            <a:ext cx="82296" cy="11704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2624328"/>
            <a:ext cx="54864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2624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L'IA ne diagnostique pas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9900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Hypothèses uniquement. La décision clinique reste toujours la responsabilité du praticien.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51460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514600"/>
            <a:ext cx="82296" cy="1170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3"/>
          <p:cNvSpPr/>
          <p:nvPr/>
        </p:nvSpPr>
        <p:spPr>
          <a:xfrm>
            <a:off x="4873752" y="2624328"/>
            <a:ext cx="54864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2624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Authentification hachée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9900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crypto.scryptSync — sel aléatoire 16 bytes, clé 64 bytes. Les mots de passe ne quittent pas le serveur.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84048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840480"/>
            <a:ext cx="82296" cy="117043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1" name="Shape 29"/>
          <p:cNvSpPr/>
          <p:nvPr/>
        </p:nvSpPr>
        <p:spPr>
          <a:xfrm>
            <a:off x="438912" y="3950208"/>
            <a:ext cx="548640" cy="27432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BIO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51560" y="3931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Biométrie simulée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3159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La caméra s'ouvre mais aucun traitement biométrique réel n'est effectué — prototype de recherche uniquement.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84048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840480"/>
            <a:ext cx="82296" cy="1170432"/>
          </a:xfrm>
          <a:prstGeom prst="rect">
            <a:avLst/>
          </a:prstGeom>
          <a:solidFill>
            <a:srgbClr val="0A2F4E"/>
          </a:solidFill>
          <a:ln/>
        </p:spPr>
      </p:sp>
      <p:sp>
        <p:nvSpPr>
          <p:cNvPr id="37" name="Shape 35"/>
          <p:cNvSpPr/>
          <p:nvPr/>
        </p:nvSpPr>
        <p:spPr>
          <a:xfrm>
            <a:off x="4873752" y="3950208"/>
            <a:ext cx="548640" cy="274320"/>
          </a:xfrm>
          <a:prstGeom prst="rect">
            <a:avLst/>
          </a:prstGeom>
          <a:solidFill>
            <a:srgbClr val="0A2F4E"/>
          </a:solidFill>
          <a:ln/>
        </p:spPr>
      </p:sp>
      <p:sp>
        <p:nvSpPr>
          <p:cNvPr id="38" name="Text 36"/>
          <p:cNvSpPr/>
          <p:nvPr/>
        </p:nvSpPr>
        <p:spPr>
          <a:xfrm>
            <a:off x="4873752" y="3950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0" y="3931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Audit log complet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43159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Chaque connexion, accès patient et utilisation biométrique est tracé dans staff_access_log (schéma SQL).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88920" cy="4114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788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664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React 18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Interface SPA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04872"/>
            <a:ext cx="278892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Web Speech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7980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Dictée vocale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209544"/>
            <a:ext cx="2788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273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jsPDF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60273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Export PDF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014216"/>
            <a:ext cx="278892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40782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CSS-in-JS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407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Design tokens theme.js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188720"/>
            <a:ext cx="2788920" cy="411480"/>
          </a:xfrm>
          <a:prstGeom prst="rect">
            <a:avLst/>
          </a:prstGeom>
          <a:solidFill>
            <a:srgbClr val="0A2F4E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188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1600200"/>
            <a:ext cx="2788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1664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Node.js + Express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1993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API REST &amp; proxy SSE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404872"/>
            <a:ext cx="278892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SQLite (better-sqlite3)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27980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Prescriptions + auth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3209544"/>
            <a:ext cx="2788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83280" y="3273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crypto.scryptSync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60273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Hachage mots de passe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4014216"/>
            <a:ext cx="278892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83280" y="40782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dotenv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407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Configuration sécurisée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1188720"/>
            <a:ext cx="2788920" cy="41148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1188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IA &amp; Données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1600200"/>
            <a:ext cx="2788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55080" y="1664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Groq Cloud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55080" y="19933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Inférence rapide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2404872"/>
            <a:ext cx="278892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55080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LLaMA 3.3-70B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55080" y="27980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NLP + chatbot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3209544"/>
            <a:ext cx="2788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55080" y="3273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HL7 FHIR R4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55080" y="360273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Adaptateur SIH extensible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4014216"/>
            <a:ext cx="278892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55080" y="40782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</a:rPr>
              <a:t>Jest + RTL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55080" y="4407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Tests unitaires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&amp; Résultats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965960" cy="82296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5331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2F4E"/>
                </a:solidFill>
              </a:rPr>
              <a:t>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0665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C75"/>
                </a:solidFill>
              </a:rPr>
              <a:t>Patients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3408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dossiers cliniques complets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118872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188720"/>
            <a:ext cx="1965960" cy="82296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35331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2F4E"/>
                </a:solidFill>
              </a:rPr>
              <a:t>16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542032" y="20665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C75"/>
                </a:solidFill>
              </a:rPr>
              <a:t>Personnel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23408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16 comptes · 15 rôles · 5 niveaux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118872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188720"/>
            <a:ext cx="1965960" cy="82296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135331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2F4E"/>
                </a:solidFill>
              </a:rPr>
              <a:t>61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718304" y="20665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C75"/>
                </a:solidFill>
              </a:rPr>
              <a:t>Médicaments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8304" y="23408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référentiel Vidal/HAS réel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118872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188720"/>
            <a:ext cx="1965960" cy="82296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35331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2F4E"/>
                </a:solidFill>
              </a:rPr>
              <a:t>20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894576" y="20665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C75"/>
                </a:solidFill>
              </a:rPr>
              <a:t>Permissions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94576" y="23408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atomiques · 4 catégories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788920"/>
            <a:ext cx="8595360" cy="365760"/>
          </a:xfrm>
          <a:prstGeom prst="rect">
            <a:avLst/>
          </a:prstGeom>
          <a:solidFill>
            <a:srgbClr val="D6E8F5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F4E"/>
                </a:solidFill>
              </a:rPr>
              <a:t>Parcours de démonstration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246120"/>
            <a:ext cx="85953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246120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① Connexion par mot de passe (admin / admin) ou RFID (1 clic)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602736"/>
            <a:ext cx="859536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602736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② Saisie libre : « Prescrire 500mg de Doliprane per os toutes les 6h pour Dupont »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959352"/>
            <a:ext cx="85953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959352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③ L'IA extrait le JSON, pose les 3 questions, enregistre dans SILLAGE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315968"/>
            <a:ext cx="8595360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315968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④ Doctor AI — demander l'état du patient H-1 en rôle Médecin vs Aide-Soignant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672584"/>
            <a:ext cx="85953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4672584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⑤ Kanban : valider une prescription et observer le délai restant en temps réel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F4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&amp; Travaux Futurs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321040" y="91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88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88920" cy="73152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2296" cy="35661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28016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</a:rPr>
              <a:t>Phase 1 — Immédiat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1783080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4C75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Connexion à un DPI réel (Crossway, Dx Care)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560320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4C75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Migration frontend → API /api/patients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3337560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4C75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Tests unitaires complets (NLPBot, AlertSystem)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788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188720"/>
            <a:ext cx="2788920" cy="73152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1188720"/>
            <a:ext cx="82296" cy="35661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3410712" y="128016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</a:rPr>
              <a:t>Phase 2 — Court terme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10712" y="1783080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185B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SSO SAML / OpenID Connect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10712" y="2560320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185B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MFA (2ème facteur authentification)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10712" y="3337560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185B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Intégration pharmacie (Dispen-Sys)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2788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188720"/>
            <a:ext cx="278892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188720"/>
            <a:ext cx="82296" cy="3566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128016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</a:rPr>
              <a:t>Phase 3 — Long terme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82512" y="1783080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Lecture PACS DICOM (Orthanc, Synapse)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82512" y="2560320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WebSocket HL7 v2 — constantes temps réel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82512" y="3337560"/>
            <a:ext cx="2532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Certification HAS · Espace numérique de santé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754880"/>
            <a:ext cx="8595360" cy="301752"/>
          </a:xfrm>
          <a:prstGeom prst="rect">
            <a:avLst/>
          </a:prstGeom>
          <a:solidFill>
            <a:srgbClr val="D6E8F5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4754880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F4E"/>
                </a:solidFill>
              </a:rPr>
              <a:t>Ce prototype répond aux exigences du Ségur du Numérique en santé — standard HL7 FHIR R4 déjà intégré dans l'adaptateur SIH.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SmartUX-AI — Une interface augmentée par l'IA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pour accélérer et sécuriser la prise en charge hospitalière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4114800" cy="36576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017520"/>
            <a:ext cx="566928" cy="329184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1752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NLP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" y="301752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</a:rPr>
              <a:t>Saisie libre structuree en 4 etapes + alertes automatiques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38144"/>
            <a:ext cx="566928" cy="329184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3814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" y="343814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</a:rPr>
              <a:t>3 methodes d'auth · mots de passe haches · session securisee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58768"/>
            <a:ext cx="566928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5876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" y="38587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</a:rPr>
              <a:t>Doctor AI adapte au role · RGPD · streaming SSE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79392"/>
            <a:ext cx="566928" cy="32918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7939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FHIR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" y="427939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8F5"/>
                </a:solidFill>
              </a:rPr>
              <a:t>Architecture extensible FHIR R4 · pret pour deploiement hospitalier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</a:rPr>
              <a:t>CRIStAL × Centrale Lille · Recherche UX 2026 · Mohamed Loudili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SmartUX-AI — Prototype SIH SILLAGE</dc:title>
  <dc:subject>Présentation projet</dc:subject>
  <dc:creator>Mohamed Loudili — CRIStAL × Centrale Lille</dc:creator>
  <cp:lastModifiedBy>Mohamed Loudili — CRIStAL × Centrale Lille</cp:lastModifiedBy>
  <cp:revision>1</cp:revision>
  <dcterms:created xsi:type="dcterms:W3CDTF">2026-03-11T00:46:07Z</dcterms:created>
  <dcterms:modified xsi:type="dcterms:W3CDTF">2026-03-11T00:46:07Z</dcterms:modified>
</cp:coreProperties>
</file>